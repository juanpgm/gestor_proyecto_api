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4" r:id="rId2"/>
    <p:sldId id="267" r:id="rId3"/>
    <p:sldId id="322" r:id="rId4"/>
    <p:sldId id="333" r:id="rId5"/>
    <p:sldId id="334" r:id="rId6"/>
    <p:sldId id="266" r:id="rId7"/>
    <p:sldId id="313" r:id="rId8"/>
    <p:sldId id="308" r:id="rId9"/>
    <p:sldId id="279" r:id="rId10"/>
    <p:sldId id="312" r:id="rId11"/>
    <p:sldId id="332" r:id="rId12"/>
    <p:sldId id="328" r:id="rId13"/>
    <p:sldId id="272" r:id="rId14"/>
    <p:sldId id="335" r:id="rId15"/>
    <p:sldId id="336" r:id="rId16"/>
    <p:sldId id="337" r:id="rId17"/>
    <p:sldId id="338" r:id="rId18"/>
    <p:sldId id="339" r:id="rId19"/>
    <p:sldId id="340" r:id="rId20"/>
    <p:sldId id="341" r:id="rId21"/>
    <p:sldId id="342" r:id="rId22"/>
    <p:sldId id="343" r:id="rId23"/>
    <p:sldId id="271" r:id="rId24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66"/>
    <p:restoredTop sz="94720"/>
  </p:normalViewPr>
  <p:slideViewPr>
    <p:cSldViewPr>
      <p:cViewPr varScale="1">
        <p:scale>
          <a:sx n="21" d="100"/>
          <a:sy n="21" d="100"/>
        </p:scale>
        <p:origin x="176" y="21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Felipe Romero Bernal" userId="d29dba75d7369b69" providerId="LiveId" clId="{06E6C3CC-26FD-5E68-B402-655CE2F8189A}"/>
    <pc:docChg chg="undo custSel addSld delSld modSld sldOrd">
      <pc:chgData name="Daniel Felipe Romero Bernal" userId="d29dba75d7369b69" providerId="LiveId" clId="{06E6C3CC-26FD-5E68-B402-655CE2F8189A}" dt="2025-11-01T02:26:39.150" v="3933" actId="20577"/>
      <pc:docMkLst>
        <pc:docMk/>
      </pc:docMkLst>
      <pc:sldChg chg="modSp mod">
        <pc:chgData name="Daniel Felipe Romero Bernal" userId="d29dba75d7369b69" providerId="LiveId" clId="{06E6C3CC-26FD-5E68-B402-655CE2F8189A}" dt="2025-11-01T02:26:29.701" v="3929" actId="20577"/>
        <pc:sldMkLst>
          <pc:docMk/>
          <pc:sldMk cId="1772165544" sldId="266"/>
        </pc:sldMkLst>
        <pc:spChg chg="mod">
          <ac:chgData name="Daniel Felipe Romero Bernal" userId="d29dba75d7369b69" providerId="LiveId" clId="{06E6C3CC-26FD-5E68-B402-655CE2F8189A}" dt="2025-11-01T02:26:29.701" v="3929" actId="20577"/>
          <ac:spMkLst>
            <pc:docMk/>
            <pc:sldMk cId="1772165544" sldId="266"/>
            <ac:spMk id="2" creationId="{A9EABBB6-1BAA-092E-221B-0D659A80290B}"/>
          </ac:spMkLst>
        </pc:spChg>
      </pc:sldChg>
      <pc:sldChg chg="modSp mod">
        <pc:chgData name="Daniel Felipe Romero Bernal" userId="d29dba75d7369b69" providerId="LiveId" clId="{06E6C3CC-26FD-5E68-B402-655CE2F8189A}" dt="2025-11-01T02:26:24.075" v="3927" actId="20577"/>
        <pc:sldMkLst>
          <pc:docMk/>
          <pc:sldMk cId="1662916072" sldId="267"/>
        </pc:sldMkLst>
        <pc:spChg chg="mod">
          <ac:chgData name="Daniel Felipe Romero Bernal" userId="d29dba75d7369b69" providerId="LiveId" clId="{06E6C3CC-26FD-5E68-B402-655CE2F8189A}" dt="2025-11-01T02:26:24.075" v="3927" actId="20577"/>
          <ac:spMkLst>
            <pc:docMk/>
            <pc:sldMk cId="1662916072" sldId="267"/>
            <ac:spMk id="2" creationId="{E2A4AF33-9455-1ABF-37EF-DFBB5306F302}"/>
          </ac:spMkLst>
        </pc:spChg>
      </pc:sldChg>
      <pc:sldChg chg="del">
        <pc:chgData name="Daniel Felipe Romero Bernal" userId="d29dba75d7369b69" providerId="LiveId" clId="{06E6C3CC-26FD-5E68-B402-655CE2F8189A}" dt="2025-11-01T02:26:21.353" v="3925" actId="2696"/>
        <pc:sldMkLst>
          <pc:docMk/>
          <pc:sldMk cId="2756890861" sldId="268"/>
        </pc:sldMkLst>
      </pc:sldChg>
      <pc:sldChg chg="modSp mod">
        <pc:chgData name="Daniel Felipe Romero Bernal" userId="d29dba75d7369b69" providerId="LiveId" clId="{06E6C3CC-26FD-5E68-B402-655CE2F8189A}" dt="2025-11-01T02:26:39.150" v="3933" actId="20577"/>
        <pc:sldMkLst>
          <pc:docMk/>
          <pc:sldMk cId="3790849077" sldId="272"/>
        </pc:sldMkLst>
        <pc:spChg chg="mod">
          <ac:chgData name="Daniel Felipe Romero Bernal" userId="d29dba75d7369b69" providerId="LiveId" clId="{06E6C3CC-26FD-5E68-B402-655CE2F8189A}" dt="2025-11-01T02:26:39.150" v="3933" actId="20577"/>
          <ac:spMkLst>
            <pc:docMk/>
            <pc:sldMk cId="3790849077" sldId="272"/>
            <ac:spMk id="2" creationId="{86EAC173-6215-A368-88F6-21E9A833F769}"/>
          </ac:spMkLst>
        </pc:spChg>
      </pc:sldChg>
      <pc:sldChg chg="del">
        <pc:chgData name="Daniel Felipe Romero Bernal" userId="d29dba75d7369b69" providerId="LiveId" clId="{06E6C3CC-26FD-5E68-B402-655CE2F8189A}" dt="2025-11-01T02:26:21.352" v="3924" actId="2696"/>
        <pc:sldMkLst>
          <pc:docMk/>
          <pc:sldMk cId="4066801827" sldId="307"/>
        </pc:sldMkLst>
      </pc:sldChg>
      <pc:sldChg chg="del">
        <pc:chgData name="Daniel Felipe Romero Bernal" userId="d29dba75d7369b69" providerId="LiveId" clId="{06E6C3CC-26FD-5E68-B402-655CE2F8189A}" dt="2025-11-01T02:26:21.350" v="3923" actId="2696"/>
        <pc:sldMkLst>
          <pc:docMk/>
          <pc:sldMk cId="3453142212" sldId="314"/>
        </pc:sldMkLst>
      </pc:sldChg>
      <pc:sldChg chg="addSp delSp modSp add del mod">
        <pc:chgData name="Daniel Felipe Romero Bernal" userId="d29dba75d7369b69" providerId="LiveId" clId="{06E6C3CC-26FD-5E68-B402-655CE2F8189A}" dt="2025-11-01T01:45:22.350" v="3918" actId="2696"/>
        <pc:sldMkLst>
          <pc:docMk/>
          <pc:sldMk cId="969110578" sldId="329"/>
        </pc:sldMkLst>
      </pc:sldChg>
      <pc:sldChg chg="addSp delSp modSp add del mod">
        <pc:chgData name="Daniel Felipe Romero Bernal" userId="d29dba75d7369b69" providerId="LiveId" clId="{06E6C3CC-26FD-5E68-B402-655CE2F8189A}" dt="2025-11-01T01:45:22.355" v="3919" actId="2696"/>
        <pc:sldMkLst>
          <pc:docMk/>
          <pc:sldMk cId="3469948758" sldId="330"/>
        </pc:sldMkLst>
      </pc:sldChg>
      <pc:sldChg chg="addSp delSp modSp add del mod">
        <pc:chgData name="Daniel Felipe Romero Bernal" userId="d29dba75d7369b69" providerId="LiveId" clId="{06E6C3CC-26FD-5E68-B402-655CE2F8189A}" dt="2025-11-01T01:45:22.363" v="3920" actId="2696"/>
        <pc:sldMkLst>
          <pc:docMk/>
          <pc:sldMk cId="2912129721" sldId="331"/>
        </pc:sldMkLst>
      </pc:sldChg>
      <pc:sldChg chg="modSp mod">
        <pc:chgData name="Daniel Felipe Romero Bernal" userId="d29dba75d7369b69" providerId="LiveId" clId="{06E6C3CC-26FD-5E68-B402-655CE2F8189A}" dt="2025-11-01T02:26:34.876" v="3931" actId="20577"/>
        <pc:sldMkLst>
          <pc:docMk/>
          <pc:sldMk cId="2955763115" sldId="332"/>
        </pc:sldMkLst>
        <pc:spChg chg="mod">
          <ac:chgData name="Daniel Felipe Romero Bernal" userId="d29dba75d7369b69" providerId="LiveId" clId="{06E6C3CC-26FD-5E68-B402-655CE2F8189A}" dt="2025-11-01T02:26:34.876" v="3931" actId="20577"/>
          <ac:spMkLst>
            <pc:docMk/>
            <pc:sldMk cId="2955763115" sldId="332"/>
            <ac:spMk id="2" creationId="{9928BE90-273B-9C5B-7B6E-5D019165549A}"/>
          </ac:spMkLst>
        </pc:spChg>
      </pc:sldChg>
      <pc:sldChg chg="modSp add del mod ord">
        <pc:chgData name="Daniel Felipe Romero Bernal" userId="d29dba75d7369b69" providerId="LiveId" clId="{06E6C3CC-26FD-5E68-B402-655CE2F8189A}" dt="2025-11-01T01:45:22.337" v="3916" actId="2696"/>
        <pc:sldMkLst>
          <pc:docMk/>
          <pc:sldMk cId="2208745237" sldId="344"/>
        </pc:sldMkLst>
      </pc:sldChg>
      <pc:sldChg chg="add del">
        <pc:chgData name="Daniel Felipe Romero Bernal" userId="d29dba75d7369b69" providerId="LiveId" clId="{06E6C3CC-26FD-5E68-B402-655CE2F8189A}" dt="2025-11-01T01:45:22.345" v="3917" actId="2696"/>
        <pc:sldMkLst>
          <pc:docMk/>
          <pc:sldMk cId="2552525475" sldId="345"/>
        </pc:sldMkLst>
      </pc:sldChg>
      <pc:sldChg chg="addSp delSp modSp add del mod replId modAnim">
        <pc:chgData name="Daniel Felipe Romero Bernal" userId="d29dba75d7369b69" providerId="LiveId" clId="{06E6C3CC-26FD-5E68-B402-655CE2F8189A}" dt="2025-11-01T01:45:22.371" v="3921" actId="2696"/>
        <pc:sldMkLst>
          <pc:docMk/>
          <pc:sldMk cId="1276348182" sldId="349"/>
        </pc:sldMkLst>
      </pc:sldChg>
      <pc:sldChg chg="addSp delSp modSp add del mod delAnim">
        <pc:chgData name="Daniel Felipe Romero Bernal" userId="d29dba75d7369b69" providerId="LiveId" clId="{06E6C3CC-26FD-5E68-B402-655CE2F8189A}" dt="2025-11-01T01:45:22.374" v="3922" actId="2696"/>
        <pc:sldMkLst>
          <pc:docMk/>
          <pc:sldMk cId="2976516019" sldId="35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389561A-75C5-A438-9BB0-84BEB3E26B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86650" cy="113549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65D3CD9-9E57-2C2E-1EDA-73EB997156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9484" y="0"/>
            <a:ext cx="13134616" cy="274517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263857B-7F5B-147A-E9FA-539F65C25D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8612" y="1158875"/>
            <a:ext cx="10218978" cy="962400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CC4688C-435E-AA60-7F63-BBA53F17804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088572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220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894951" y="0"/>
            <a:ext cx="14209394" cy="11308715"/>
          </a:xfrm>
          <a:custGeom>
            <a:avLst/>
            <a:gdLst/>
            <a:ahLst/>
            <a:cxnLst/>
            <a:rect l="l" t="t" r="r" b="b"/>
            <a:pathLst>
              <a:path w="14209394" h="11308715">
                <a:moveTo>
                  <a:pt x="14209148" y="0"/>
                </a:moveTo>
                <a:lnTo>
                  <a:pt x="0" y="0"/>
                </a:lnTo>
                <a:lnTo>
                  <a:pt x="0" y="11308556"/>
                </a:lnTo>
                <a:lnTo>
                  <a:pt x="14209148" y="11308556"/>
                </a:lnTo>
                <a:lnTo>
                  <a:pt x="14209148" y="0"/>
                </a:lnTo>
                <a:close/>
              </a:path>
            </a:pathLst>
          </a:custGeom>
          <a:solidFill>
            <a:srgbClr val="F8F4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91930B7-9C38-5C2D-663B-E2625F67AC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104726" cy="6911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308715" cy="11308715"/>
          </a:xfrm>
          <a:custGeom>
            <a:avLst/>
            <a:gdLst/>
            <a:ahLst/>
            <a:cxnLst/>
            <a:rect l="l" t="t" r="r" b="b"/>
            <a:pathLst>
              <a:path w="11308715" h="11308715">
                <a:moveTo>
                  <a:pt x="11308556" y="0"/>
                </a:moveTo>
                <a:lnTo>
                  <a:pt x="0" y="0"/>
                </a:lnTo>
                <a:lnTo>
                  <a:pt x="0" y="11308556"/>
                </a:lnTo>
                <a:lnTo>
                  <a:pt x="11308556" y="11308556"/>
                </a:lnTo>
                <a:lnTo>
                  <a:pt x="11308556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78F4E27-A30C-9E6F-A950-F3C285D35B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104726" cy="6911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5FBBFD-8B9D-A60D-32EE-0466FF9D066A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A8C968B-6900-E09C-728E-6CF848948DE2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79B4F45-D38D-274D-5546-722F82FC6E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EF2B4810-D27F-08E0-675B-A5D389A65BDF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EBAD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374F20A5-52F5-4DD4-9770-8E43C3C71DA3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F3387D5-A49A-1FBF-34B1-4BE90F9FC5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EB181B7-B39F-29DC-B535-9E0FF177020E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D3C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0405629-822C-F927-24BD-4A62DDF405D5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F91B221-6367-4694-A4D3-D53A7B0011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615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EF966DF-49B0-7B68-7000-BF5DF1EE111E}"/>
              </a:ext>
            </a:extLst>
          </p:cNvPr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E1E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B042B35-C874-136A-B17C-304D839CDE28}"/>
              </a:ext>
            </a:extLst>
          </p:cNvPr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C070EC6-3944-52FF-4319-00DC2B30E0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338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C4DA55D-CD36-3DC2-26D0-8CF0B0D983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3" y="-23812"/>
            <a:ext cx="20099397" cy="183197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2A436CE-D75D-AEE7-F474-1353DD22346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088572" cy="6858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33D1988-090B-3CAF-D4B8-F1993D57455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10806747"/>
            <a:ext cx="20104100" cy="50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178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55B2940-E47F-E285-A95F-0F84736467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97"/>
            <a:ext cx="20347521" cy="1144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338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70" r:id="rId10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0282AB-9153-EE65-26F1-C86C95664868}"/>
              </a:ext>
            </a:extLst>
          </p:cNvPr>
          <p:cNvSpPr txBox="1"/>
          <p:nvPr/>
        </p:nvSpPr>
        <p:spPr>
          <a:xfrm>
            <a:off x="4756150" y="3902075"/>
            <a:ext cx="10591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O" sz="6600" b="1" dirty="0">
                <a:latin typeface="Arial" panose="020B0604020202020204" pitchFamily="34" charset="0"/>
                <a:cs typeface="Arial" panose="020B0604020202020204" pitchFamily="34" charset="0"/>
              </a:rPr>
              <a:t>Arquitectura de Big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B60A2E-D9B1-9F44-BD0F-7DA63CF2C93D}"/>
              </a:ext>
            </a:extLst>
          </p:cNvPr>
          <p:cNvSpPr txBox="1"/>
          <p:nvPr/>
        </p:nvSpPr>
        <p:spPr>
          <a:xfrm>
            <a:off x="14647985" y="1934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948847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E2A4AF33-9455-1ABF-37EF-DFBB5306F302}"/>
              </a:ext>
            </a:extLst>
          </p:cNvPr>
          <p:cNvSpPr txBox="1"/>
          <p:nvPr/>
        </p:nvSpPr>
        <p:spPr>
          <a:xfrm>
            <a:off x="2853326" y="2104470"/>
            <a:ext cx="4897120" cy="532068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4500" spc="-25" dirty="0">
                <a:latin typeface="Arial"/>
                <a:cs typeface="Arial"/>
              </a:rPr>
              <a:t>01</a:t>
            </a:r>
            <a:endParaRPr sz="34500" dirty="0">
              <a:latin typeface="Arial"/>
              <a:cs typeface="Arial"/>
            </a:endParaRP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F5B1D367-75B3-1D5B-2D78-5E53B1B1A718}"/>
              </a:ext>
            </a:extLst>
          </p:cNvPr>
          <p:cNvSpPr/>
          <p:nvPr/>
        </p:nvSpPr>
        <p:spPr>
          <a:xfrm>
            <a:off x="7995133" y="3379638"/>
            <a:ext cx="0" cy="3118485"/>
          </a:xfrm>
          <a:custGeom>
            <a:avLst/>
            <a:gdLst/>
            <a:ahLst/>
            <a:cxnLst/>
            <a:rect l="l" t="t" r="r" b="b"/>
            <a:pathLst>
              <a:path h="3118485">
                <a:moveTo>
                  <a:pt x="0" y="0"/>
                </a:moveTo>
                <a:lnTo>
                  <a:pt x="0" y="3118009"/>
                </a:lnTo>
              </a:path>
            </a:pathLst>
          </a:custGeom>
          <a:ln w="41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2889306-95C3-BEA6-9C90-959D4C1A4C29}"/>
              </a:ext>
            </a:extLst>
          </p:cNvPr>
          <p:cNvSpPr txBox="1">
            <a:spLocks/>
          </p:cNvSpPr>
          <p:nvPr/>
        </p:nvSpPr>
        <p:spPr>
          <a:xfrm>
            <a:off x="8343994" y="3289548"/>
            <a:ext cx="780405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Patrones de consumo</a:t>
            </a:r>
            <a:endParaRPr lang="es-CO" sz="495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2916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C4009-A35F-FD8A-5F45-A477CBA19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17102FC8-4A41-C02A-3F3B-26446CFDA3BB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28672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API</a:t>
            </a:r>
            <a:endParaRPr lang="es-CO" sz="4950" dirty="0">
              <a:latin typeface="Arial"/>
              <a:cs typeface="Arial"/>
            </a:endParaRPr>
          </a:p>
        </p:txBody>
      </p:sp>
      <p:pic>
        <p:nvPicPr>
          <p:cNvPr id="3076" name="Picture 4" descr="Building a Data Lake on AWS: Best Practices and Use Cases | by Rimjhimittal  | Medium">
            <a:extLst>
              <a:ext uri="{FF2B5EF4-FFF2-40B4-BE49-F238E27FC236}">
                <a16:creationId xmlns:a16="http://schemas.microsoft.com/office/drawing/2014/main" id="{7913C588-46B1-91FE-813C-3146947F8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8650" y="3368675"/>
            <a:ext cx="7027995" cy="7027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CF8ED0-CCF1-3363-F694-55CD93F3B62F}"/>
              </a:ext>
            </a:extLst>
          </p:cNvPr>
          <p:cNvSpPr txBox="1"/>
          <p:nvPr/>
        </p:nvSpPr>
        <p:spPr>
          <a:xfrm>
            <a:off x="12197274" y="3581481"/>
            <a:ext cx="18020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sz="3200" dirty="0"/>
              <a:t>Datalake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89C1D5-9F0C-220B-D823-511C20093C1D}"/>
              </a:ext>
            </a:extLst>
          </p:cNvPr>
          <p:cNvSpPr txBox="1"/>
          <p:nvPr/>
        </p:nvSpPr>
        <p:spPr>
          <a:xfrm>
            <a:off x="6594310" y="8812497"/>
            <a:ext cx="21675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sz="3200" dirty="0"/>
              <a:t>Apificación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48E216F-FDCD-D87F-D70A-5B08DC6E03BD}"/>
              </a:ext>
            </a:extLst>
          </p:cNvPr>
          <p:cNvSpPr/>
          <p:nvPr/>
        </p:nvSpPr>
        <p:spPr>
          <a:xfrm>
            <a:off x="7428448" y="6721475"/>
            <a:ext cx="2623602" cy="167640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4CE9B90-7531-5D19-FA3F-4EA287D4ABAB}"/>
              </a:ext>
            </a:extLst>
          </p:cNvPr>
          <p:cNvSpPr/>
          <p:nvPr/>
        </p:nvSpPr>
        <p:spPr>
          <a:xfrm>
            <a:off x="10052050" y="3240104"/>
            <a:ext cx="1905000" cy="1179755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761119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51898-B334-0F0B-8865-6DB394308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Using Azure Databricks for Batch and Streaming Processing | by Syntio |  SYNTIO | Medium">
            <a:extLst>
              <a:ext uri="{FF2B5EF4-FFF2-40B4-BE49-F238E27FC236}">
                <a16:creationId xmlns:a16="http://schemas.microsoft.com/office/drawing/2014/main" id="{04B03EAD-2A67-B353-FD23-5DD2DA394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850" y="3881967"/>
            <a:ext cx="12700000" cy="676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ject 5">
            <a:extLst>
              <a:ext uri="{FF2B5EF4-FFF2-40B4-BE49-F238E27FC236}">
                <a16:creationId xmlns:a16="http://schemas.microsoft.com/office/drawing/2014/main" id="{C5375820-09A2-3E59-C1B0-A697807A8E9D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28672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Colas</a:t>
            </a:r>
            <a:endParaRPr lang="es-CO" sz="495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5BC169-988D-9788-487B-1CA35CD07951}"/>
              </a:ext>
            </a:extLst>
          </p:cNvPr>
          <p:cNvSpPr txBox="1"/>
          <p:nvPr/>
        </p:nvSpPr>
        <p:spPr>
          <a:xfrm>
            <a:off x="12197274" y="3581481"/>
            <a:ext cx="1233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sz="3200" dirty="0"/>
              <a:t>Colas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ECA41E-23D2-CE0F-E041-FB8D2FC40493}"/>
              </a:ext>
            </a:extLst>
          </p:cNvPr>
          <p:cNvSpPr txBox="1"/>
          <p:nvPr/>
        </p:nvSpPr>
        <p:spPr>
          <a:xfrm>
            <a:off x="13862050" y="9255434"/>
            <a:ext cx="12554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sz="3200" dirty="0"/>
              <a:t>Spark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497D03B-AEF2-1CF1-9C59-33F805D33F2F}"/>
              </a:ext>
            </a:extLst>
          </p:cNvPr>
          <p:cNvSpPr/>
          <p:nvPr/>
        </p:nvSpPr>
        <p:spPr>
          <a:xfrm>
            <a:off x="11832340" y="7428484"/>
            <a:ext cx="2623602" cy="167640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E64D0B5-4FD4-7227-83D6-97C16C4190E7}"/>
              </a:ext>
            </a:extLst>
          </p:cNvPr>
          <p:cNvSpPr/>
          <p:nvPr/>
        </p:nvSpPr>
        <p:spPr>
          <a:xfrm>
            <a:off x="10280650" y="3688003"/>
            <a:ext cx="1802096" cy="3033472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288570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94937-4F30-B5A2-1014-0D6614120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Enable business users to analyze large datasets in your data lake with  Amazon QuickSight | AWS Business Intelligence Blog">
            <a:extLst>
              <a:ext uri="{FF2B5EF4-FFF2-40B4-BE49-F238E27FC236}">
                <a16:creationId xmlns:a16="http://schemas.microsoft.com/office/drawing/2014/main" id="{FDC206DC-13C9-ABAF-C483-D72DF0FD6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412" y="4059515"/>
            <a:ext cx="16027276" cy="6167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ject 5">
            <a:extLst>
              <a:ext uri="{FF2B5EF4-FFF2-40B4-BE49-F238E27FC236}">
                <a16:creationId xmlns:a16="http://schemas.microsoft.com/office/drawing/2014/main" id="{28346C88-E628-81FC-00DA-875A255CE9E7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28672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Consulta de base de datos</a:t>
            </a:r>
            <a:endParaRPr lang="es-CO" sz="495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401720-0AE0-E6C7-78FE-EF46551A9AF7}"/>
              </a:ext>
            </a:extLst>
          </p:cNvPr>
          <p:cNvSpPr txBox="1"/>
          <p:nvPr/>
        </p:nvSpPr>
        <p:spPr>
          <a:xfrm>
            <a:off x="8584156" y="9853972"/>
            <a:ext cx="18020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sz="3200" dirty="0"/>
              <a:t>Bodegas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C2A4EF-F3F2-B347-C970-118844FA0BD4}"/>
              </a:ext>
            </a:extLst>
          </p:cNvPr>
          <p:cNvSpPr txBox="1"/>
          <p:nvPr/>
        </p:nvSpPr>
        <p:spPr>
          <a:xfrm>
            <a:off x="10935902" y="8803699"/>
            <a:ext cx="25779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sz="3200" dirty="0"/>
              <a:t>Visualización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587D828-9F6B-1494-3AC8-2DB1DC688650}"/>
              </a:ext>
            </a:extLst>
          </p:cNvPr>
          <p:cNvSpPr/>
          <p:nvPr/>
        </p:nvSpPr>
        <p:spPr>
          <a:xfrm>
            <a:off x="10890250" y="5807075"/>
            <a:ext cx="2623602" cy="2743200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668A729-4B0D-7DF5-ADB3-2742F509011C}"/>
              </a:ext>
            </a:extLst>
          </p:cNvPr>
          <p:cNvSpPr/>
          <p:nvPr/>
        </p:nvSpPr>
        <p:spPr>
          <a:xfrm>
            <a:off x="8299623" y="6806737"/>
            <a:ext cx="1802096" cy="3033472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321363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A9EABBB6-1BAA-092E-221B-0D659A80290B}"/>
              </a:ext>
            </a:extLst>
          </p:cNvPr>
          <p:cNvSpPr txBox="1"/>
          <p:nvPr/>
        </p:nvSpPr>
        <p:spPr>
          <a:xfrm>
            <a:off x="2853326" y="2104470"/>
            <a:ext cx="4897120" cy="5282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4500" spc="-25" dirty="0">
                <a:latin typeface="Arial"/>
                <a:cs typeface="Arial"/>
              </a:rPr>
              <a:t>02</a:t>
            </a:r>
            <a:endParaRPr sz="34500" dirty="0">
              <a:latin typeface="Arial"/>
              <a:cs typeface="Arial"/>
            </a:endParaRP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8217E5C9-FD7C-E228-E4EC-B645A7BA76D0}"/>
              </a:ext>
            </a:extLst>
          </p:cNvPr>
          <p:cNvSpPr/>
          <p:nvPr/>
        </p:nvSpPr>
        <p:spPr>
          <a:xfrm>
            <a:off x="7995133" y="3379638"/>
            <a:ext cx="0" cy="3118485"/>
          </a:xfrm>
          <a:custGeom>
            <a:avLst/>
            <a:gdLst/>
            <a:ahLst/>
            <a:cxnLst/>
            <a:rect l="l" t="t" r="r" b="b"/>
            <a:pathLst>
              <a:path h="3118485">
                <a:moveTo>
                  <a:pt x="0" y="0"/>
                </a:moveTo>
                <a:lnTo>
                  <a:pt x="0" y="3118009"/>
                </a:lnTo>
              </a:path>
            </a:pathLst>
          </a:custGeom>
          <a:ln w="41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A4F0EA90-1697-1ADA-F39A-44070E2890B5}"/>
              </a:ext>
            </a:extLst>
          </p:cNvPr>
          <p:cNvSpPr txBox="1">
            <a:spLocks/>
          </p:cNvSpPr>
          <p:nvPr/>
        </p:nvSpPr>
        <p:spPr>
          <a:xfrm>
            <a:off x="8343994" y="3289548"/>
            <a:ext cx="5975249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NoSQL</a:t>
            </a:r>
            <a:endParaRPr lang="es-CO" sz="495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2165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4B4EB-BA3D-D196-2174-FA2435D40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BCD14A07-3E32-FFBC-D66C-010254C47B12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28672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Llave - Valor</a:t>
            </a:r>
            <a:endParaRPr lang="es-CO" sz="4950" dirty="0">
              <a:latin typeface="Arial"/>
              <a:cs typeface="Arial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52AA83B4-B2AD-4A5E-73D6-61FCA50D5C1A}"/>
              </a:ext>
            </a:extLst>
          </p:cNvPr>
          <p:cNvSpPr txBox="1"/>
          <p:nvPr/>
        </p:nvSpPr>
        <p:spPr>
          <a:xfrm>
            <a:off x="1013124" y="3949614"/>
            <a:ext cx="8610980" cy="5655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rtl="0"/>
            <a:r>
              <a:rPr lang="en-US" sz="3600" dirty="0"/>
              <a:t>Una </a:t>
            </a:r>
            <a:r>
              <a:rPr lang="en-US" sz="3600" dirty="0" err="1"/>
              <a:t>llave</a:t>
            </a:r>
            <a:r>
              <a:rPr lang="en-US" sz="3600" dirty="0"/>
              <a:t> para </a:t>
            </a:r>
            <a:r>
              <a:rPr lang="en-US" sz="3600" dirty="0" err="1"/>
              <a:t>ubicar</a:t>
            </a:r>
            <a:r>
              <a:rPr lang="en-US" sz="3600" dirty="0"/>
              <a:t> </a:t>
            </a:r>
            <a:r>
              <a:rPr lang="en-US" sz="3600" dirty="0" err="1"/>
              <a:t>cada</a:t>
            </a:r>
            <a:r>
              <a:rPr lang="en-US" sz="3600" dirty="0"/>
              <a:t> valor</a:t>
            </a:r>
            <a:endParaRPr lang="en-US" sz="3600" b="0" dirty="0">
              <a:effectLst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0C0D0E0C-439A-00C6-CF1D-138C0DF65D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7000" y="-8842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O"/>
          </a:p>
        </p:txBody>
      </p:sp>
      <p:pic>
        <p:nvPicPr>
          <p:cNvPr id="8196" name="Picture 4" descr="NoSQL Essentials – Part 2 – Key-value databases | Simon Jakowicz">
            <a:extLst>
              <a:ext uri="{FF2B5EF4-FFF2-40B4-BE49-F238E27FC236}">
                <a16:creationId xmlns:a16="http://schemas.microsoft.com/office/drawing/2014/main" id="{54979B93-7800-DB25-05F4-8DAF535801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91"/>
          <a:stretch>
            <a:fillRect/>
          </a:stretch>
        </p:blipFill>
        <p:spPr bwMode="auto">
          <a:xfrm>
            <a:off x="1047750" y="7541272"/>
            <a:ext cx="4898012" cy="1841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>
            <a:extLst>
              <a:ext uri="{FF2B5EF4-FFF2-40B4-BE49-F238E27FC236}">
                <a16:creationId xmlns:a16="http://schemas.microsoft.com/office/drawing/2014/main" id="{FC5FF91B-AB77-C4BD-1642-F1C0DC748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4650" y="4806217"/>
            <a:ext cx="11061700" cy="445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NoSQL Essentials – Part 2 – Key-value databases | Simon Jakowicz">
            <a:extLst>
              <a:ext uri="{FF2B5EF4-FFF2-40B4-BE49-F238E27FC236}">
                <a16:creationId xmlns:a16="http://schemas.microsoft.com/office/drawing/2014/main" id="{82DCB103-BA6A-75ED-06E8-52F3F3E49D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209"/>
          <a:stretch>
            <a:fillRect/>
          </a:stretch>
        </p:blipFill>
        <p:spPr bwMode="auto">
          <a:xfrm>
            <a:off x="675262" y="5699771"/>
            <a:ext cx="5261988" cy="1841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6080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22469-8DE4-E581-3E7C-AC0C7D4AF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A6B487B7-2D37-FA45-4FAA-0CCE1C8236E7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28672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Grafos</a:t>
            </a:r>
            <a:endParaRPr lang="es-CO" sz="4950" dirty="0">
              <a:latin typeface="Arial"/>
              <a:cs typeface="Arial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5ADAA704-69D1-2F66-024E-26E72FDF3E2B}"/>
              </a:ext>
            </a:extLst>
          </p:cNvPr>
          <p:cNvSpPr txBox="1"/>
          <p:nvPr/>
        </p:nvSpPr>
        <p:spPr>
          <a:xfrm>
            <a:off x="1013124" y="3949614"/>
            <a:ext cx="5838526" cy="16735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rtl="0"/>
            <a:r>
              <a:rPr lang="en-US" sz="3600" dirty="0" err="1"/>
              <a:t>Nodos</a:t>
            </a:r>
            <a:r>
              <a:rPr lang="en-US" sz="3600" dirty="0"/>
              <a:t> </a:t>
            </a:r>
            <a:r>
              <a:rPr lang="en-US" sz="3600" dirty="0" err="1"/>
              <a:t>representan</a:t>
            </a:r>
            <a:r>
              <a:rPr lang="en-US" sz="3600" dirty="0"/>
              <a:t> </a:t>
            </a:r>
            <a:r>
              <a:rPr lang="en-US" sz="3600" dirty="0" err="1"/>
              <a:t>los</a:t>
            </a:r>
            <a:r>
              <a:rPr lang="en-US" sz="3600" dirty="0"/>
              <a:t> </a:t>
            </a:r>
            <a:r>
              <a:rPr lang="en-US" sz="3600" dirty="0" err="1"/>
              <a:t>elementos</a:t>
            </a:r>
            <a:r>
              <a:rPr lang="en-US" sz="3600" dirty="0"/>
              <a:t> y </a:t>
            </a:r>
            <a:r>
              <a:rPr lang="en-US" sz="3600" dirty="0" err="1"/>
              <a:t>arcos</a:t>
            </a:r>
            <a:r>
              <a:rPr lang="en-US" sz="3600" dirty="0"/>
              <a:t> la </a:t>
            </a:r>
            <a:r>
              <a:rPr lang="en-US" sz="3600" dirty="0" err="1"/>
              <a:t>relación</a:t>
            </a:r>
            <a:r>
              <a:rPr lang="en-US" sz="3600" dirty="0"/>
              <a:t> entre </a:t>
            </a:r>
            <a:r>
              <a:rPr lang="en-US" sz="3600" dirty="0" err="1"/>
              <a:t>los</a:t>
            </a:r>
            <a:r>
              <a:rPr lang="en-US" sz="3600" dirty="0"/>
              <a:t> </a:t>
            </a:r>
            <a:r>
              <a:rPr lang="en-US" sz="3600" dirty="0" err="1"/>
              <a:t>elementos</a:t>
            </a:r>
            <a:endParaRPr lang="en-US" sz="6000" b="0" dirty="0">
              <a:effectLst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020BF8B8-31A2-6C4D-98A0-0F4204992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8098" y="4084591"/>
            <a:ext cx="10112878" cy="5151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Gremlin (query language) - Wikipedia">
            <a:extLst>
              <a:ext uri="{FF2B5EF4-FFF2-40B4-BE49-F238E27FC236}">
                <a16:creationId xmlns:a16="http://schemas.microsoft.com/office/drawing/2014/main" id="{7983A177-DA1C-443E-1655-0F66D9F87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650" y="8736062"/>
            <a:ext cx="2969943" cy="1148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1" name="Picture 5" descr="InfiniteGraph - Database of Databases">
            <a:extLst>
              <a:ext uri="{FF2B5EF4-FFF2-40B4-BE49-F238E27FC236}">
                <a16:creationId xmlns:a16="http://schemas.microsoft.com/office/drawing/2014/main" id="{259BEE9E-15E7-9B1A-879E-1290106EF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927" y="7338958"/>
            <a:ext cx="4686300" cy="960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0998E1F9-A28F-A52A-4AEC-8C6E303AD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730" y="8516334"/>
            <a:ext cx="4885468" cy="1833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6686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423C6-6A82-7304-77C3-3A1D6107B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CB243856-057A-632E-527F-84F630BED2A5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66010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Columnares</a:t>
            </a:r>
            <a:endParaRPr lang="es-CO" sz="4950" dirty="0">
              <a:latin typeface="Arial"/>
              <a:cs typeface="Arial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01BD4317-4942-BA0B-EE5D-742CCF8E5645}"/>
              </a:ext>
            </a:extLst>
          </p:cNvPr>
          <p:cNvSpPr txBox="1"/>
          <p:nvPr/>
        </p:nvSpPr>
        <p:spPr>
          <a:xfrm>
            <a:off x="1013124" y="3949613"/>
            <a:ext cx="8423134" cy="5655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rtl="0"/>
            <a:r>
              <a:rPr lang="en-US" sz="3600" dirty="0"/>
              <a:t>Datos </a:t>
            </a:r>
            <a:r>
              <a:rPr lang="en-US" sz="3600" dirty="0" err="1"/>
              <a:t>almacenados</a:t>
            </a:r>
            <a:r>
              <a:rPr lang="en-US" sz="3600" dirty="0"/>
              <a:t> </a:t>
            </a:r>
            <a:r>
              <a:rPr lang="en-US" sz="3600" dirty="0" err="1"/>
              <a:t>por</a:t>
            </a:r>
            <a:r>
              <a:rPr lang="en-US" sz="3600" dirty="0"/>
              <a:t> </a:t>
            </a:r>
            <a:r>
              <a:rPr lang="en-US" sz="3600" dirty="0" err="1"/>
              <a:t>columnas</a:t>
            </a:r>
            <a:endParaRPr lang="en-US" sz="3600" b="0" dirty="0">
              <a:effectLst/>
            </a:endParaRPr>
          </a:p>
        </p:txBody>
      </p:sp>
      <p:pic>
        <p:nvPicPr>
          <p:cNvPr id="10242" name="Picture 2" descr="What is a Columnar Database? (vs. Row-oriented Database)">
            <a:extLst>
              <a:ext uri="{FF2B5EF4-FFF2-40B4-BE49-F238E27FC236}">
                <a16:creationId xmlns:a16="http://schemas.microsoft.com/office/drawing/2014/main" id="{04469563-A560-BC88-79B7-7D2FCBDA8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8776" y="4283075"/>
            <a:ext cx="8712200" cy="490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Apache Cassandra - Wikipedia">
            <a:extLst>
              <a:ext uri="{FF2B5EF4-FFF2-40B4-BE49-F238E27FC236}">
                <a16:creationId xmlns:a16="http://schemas.microsoft.com/office/drawing/2014/main" id="{D2E74843-9988-78C9-AFEB-56EB2EDE6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3050" y="7559675"/>
            <a:ext cx="3013380" cy="2024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5" name="Picture 5">
            <a:extLst>
              <a:ext uri="{FF2B5EF4-FFF2-40B4-BE49-F238E27FC236}">
                <a16:creationId xmlns:a16="http://schemas.microsoft.com/office/drawing/2014/main" id="{F7844915-4947-9F03-5036-43D8CCC08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0" y="5722717"/>
            <a:ext cx="5423580" cy="1389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5139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FE12B-BD73-223D-A2D8-3C6524983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90A7DD91-331E-94F6-36EF-748761E7E1F4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28672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Documentales</a:t>
            </a:r>
            <a:endParaRPr lang="es-CO" sz="4950" dirty="0">
              <a:latin typeface="Arial"/>
              <a:cs typeface="Arial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350C6C6B-0533-01FE-3426-6A944772683C}"/>
              </a:ext>
            </a:extLst>
          </p:cNvPr>
          <p:cNvSpPr txBox="1"/>
          <p:nvPr/>
        </p:nvSpPr>
        <p:spPr>
          <a:xfrm>
            <a:off x="1013124" y="3949614"/>
            <a:ext cx="6143326" cy="16735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rtl="0"/>
            <a:r>
              <a:rPr lang="en-US" sz="3600" dirty="0"/>
              <a:t>Cada </a:t>
            </a:r>
            <a:r>
              <a:rPr lang="en-US" sz="3600" dirty="0" err="1"/>
              <a:t>registro</a:t>
            </a:r>
            <a:r>
              <a:rPr lang="en-US" sz="3600" dirty="0"/>
              <a:t> </a:t>
            </a:r>
            <a:r>
              <a:rPr lang="en-US" sz="3600" dirty="0" err="1"/>
              <a:t>representa</a:t>
            </a:r>
            <a:r>
              <a:rPr lang="en-US" sz="3600" dirty="0"/>
              <a:t> un </a:t>
            </a:r>
            <a:r>
              <a:rPr lang="en-US" sz="3600" dirty="0" err="1"/>
              <a:t>documento</a:t>
            </a:r>
            <a:r>
              <a:rPr lang="en-US" sz="3600" dirty="0"/>
              <a:t> que es </a:t>
            </a:r>
            <a:r>
              <a:rPr lang="en-US" sz="3600" dirty="0" err="1"/>
              <a:t>una</a:t>
            </a:r>
            <a:r>
              <a:rPr lang="en-US" sz="3600" dirty="0"/>
              <a:t> </a:t>
            </a:r>
            <a:r>
              <a:rPr lang="en-US" sz="3600" dirty="0" err="1"/>
              <a:t>representación</a:t>
            </a:r>
            <a:r>
              <a:rPr lang="en-US" sz="3600" dirty="0"/>
              <a:t> </a:t>
            </a:r>
            <a:r>
              <a:rPr lang="en-US" sz="3600" dirty="0" err="1"/>
              <a:t>en</a:t>
            </a:r>
            <a:r>
              <a:rPr lang="en-US" sz="3600" dirty="0"/>
              <a:t> JSON/XML</a:t>
            </a:r>
            <a:endParaRPr lang="en-US" sz="3600" b="0" dirty="0">
              <a:effectLst/>
            </a:endParaRPr>
          </a:p>
        </p:txBody>
      </p:sp>
      <p:pic>
        <p:nvPicPr>
          <p:cNvPr id="11266" name="Picture 2" descr="Database Examples Introduction | MongoDB">
            <a:extLst>
              <a:ext uri="{FF2B5EF4-FFF2-40B4-BE49-F238E27FC236}">
                <a16:creationId xmlns:a16="http://schemas.microsoft.com/office/drawing/2014/main" id="{E2ACF09A-748A-A597-1A4B-F227C60A2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583" y="3949613"/>
            <a:ext cx="6731178" cy="653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>
            <a:extLst>
              <a:ext uri="{FF2B5EF4-FFF2-40B4-BE49-F238E27FC236}">
                <a16:creationId xmlns:a16="http://schemas.microsoft.com/office/drawing/2014/main" id="{AFF846DF-D2C3-0B29-9D81-A6B1A120B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661" y="5912254"/>
            <a:ext cx="6343650" cy="1710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9" name="Picture 5">
            <a:extLst>
              <a:ext uri="{FF2B5EF4-FFF2-40B4-BE49-F238E27FC236}">
                <a16:creationId xmlns:a16="http://schemas.microsoft.com/office/drawing/2014/main" id="{AB46A10F-F80D-2829-4803-D8942E84E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339" y="7912132"/>
            <a:ext cx="2646293" cy="2679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3447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F033E-81CA-9B83-4947-77ACD360F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9928BE90-273B-9C5B-7B6E-5D019165549A}"/>
              </a:ext>
            </a:extLst>
          </p:cNvPr>
          <p:cNvSpPr txBox="1"/>
          <p:nvPr/>
        </p:nvSpPr>
        <p:spPr>
          <a:xfrm>
            <a:off x="2853326" y="2104470"/>
            <a:ext cx="4897120" cy="5282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4500" spc="-25" dirty="0">
                <a:latin typeface="Arial"/>
                <a:cs typeface="Arial"/>
              </a:rPr>
              <a:t>0</a:t>
            </a:r>
            <a:r>
              <a:rPr lang="es-ES" sz="34500" spc="-25" dirty="0">
                <a:latin typeface="Arial"/>
                <a:cs typeface="Arial"/>
              </a:rPr>
              <a:t>3</a:t>
            </a:r>
            <a:endParaRPr sz="34500" dirty="0">
              <a:latin typeface="Arial"/>
              <a:cs typeface="Arial"/>
            </a:endParaRP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07945BDD-C3A2-B4E7-D521-620470C9E05A}"/>
              </a:ext>
            </a:extLst>
          </p:cNvPr>
          <p:cNvSpPr/>
          <p:nvPr/>
        </p:nvSpPr>
        <p:spPr>
          <a:xfrm>
            <a:off x="7995133" y="3379638"/>
            <a:ext cx="0" cy="3118485"/>
          </a:xfrm>
          <a:custGeom>
            <a:avLst/>
            <a:gdLst/>
            <a:ahLst/>
            <a:cxnLst/>
            <a:rect l="l" t="t" r="r" b="b"/>
            <a:pathLst>
              <a:path h="3118485">
                <a:moveTo>
                  <a:pt x="0" y="0"/>
                </a:moveTo>
                <a:lnTo>
                  <a:pt x="0" y="3118009"/>
                </a:lnTo>
              </a:path>
            </a:pathLst>
          </a:custGeom>
          <a:ln w="41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E91805DD-434D-03D2-ED5B-7DF9F0EF9AAC}"/>
              </a:ext>
            </a:extLst>
          </p:cNvPr>
          <p:cNvSpPr txBox="1">
            <a:spLocks/>
          </p:cNvSpPr>
          <p:nvPr/>
        </p:nvSpPr>
        <p:spPr>
          <a:xfrm>
            <a:off x="8343994" y="3289548"/>
            <a:ext cx="6813445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Ejercicio programado</a:t>
            </a:r>
            <a:endParaRPr lang="es-CO" sz="495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5763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5BD7A-7AF7-33DA-0108-47EECC896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DE0936A6-5BC3-86D1-C8F9-ADEDDA517788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28672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Ejercicio práctico con MongoDB</a:t>
            </a:r>
            <a:endParaRPr lang="es-CO" sz="4950" dirty="0">
              <a:latin typeface="Arial"/>
              <a:cs typeface="Arial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3032353B-FF94-C5B9-8D5F-52A00240BE6A}"/>
              </a:ext>
            </a:extLst>
          </p:cNvPr>
          <p:cNvSpPr txBox="1"/>
          <p:nvPr/>
        </p:nvSpPr>
        <p:spPr>
          <a:xfrm>
            <a:off x="1013124" y="3949614"/>
            <a:ext cx="17268526" cy="5655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rtl="0"/>
            <a:r>
              <a:rPr lang="en-US" sz="3600" dirty="0" err="1"/>
              <a:t>Ingresar</a:t>
            </a:r>
            <a:r>
              <a:rPr lang="en-US" sz="3600" dirty="0"/>
              <a:t> a https://</a:t>
            </a:r>
            <a:r>
              <a:rPr lang="en-US" sz="3600" dirty="0" err="1"/>
              <a:t>shorturl.at</a:t>
            </a:r>
            <a:r>
              <a:rPr lang="en-US" sz="3600" dirty="0"/>
              <a:t>/iYe2u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0A1B7-48D2-8DFB-CFB1-F1CD29EF0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650" y="4147739"/>
            <a:ext cx="6096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033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B8779-F99E-1EE9-5646-49CB03A48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86EAC173-6215-A368-88F6-21E9A833F769}"/>
              </a:ext>
            </a:extLst>
          </p:cNvPr>
          <p:cNvSpPr txBox="1"/>
          <p:nvPr/>
        </p:nvSpPr>
        <p:spPr>
          <a:xfrm>
            <a:off x="2853326" y="2104470"/>
            <a:ext cx="4897120" cy="5282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ES" sz="34500" spc="-25">
                <a:latin typeface="Arial"/>
                <a:cs typeface="Arial"/>
              </a:rPr>
              <a:t>04</a:t>
            </a:r>
            <a:endParaRPr sz="34500" dirty="0">
              <a:latin typeface="Arial"/>
              <a:cs typeface="Arial"/>
            </a:endParaRP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4BE97245-6D25-C9A0-92FA-7316EA5958F9}"/>
              </a:ext>
            </a:extLst>
          </p:cNvPr>
          <p:cNvSpPr/>
          <p:nvPr/>
        </p:nvSpPr>
        <p:spPr>
          <a:xfrm>
            <a:off x="7995133" y="3379638"/>
            <a:ext cx="0" cy="3118485"/>
          </a:xfrm>
          <a:custGeom>
            <a:avLst/>
            <a:gdLst/>
            <a:ahLst/>
            <a:cxnLst/>
            <a:rect l="l" t="t" r="r" b="b"/>
            <a:pathLst>
              <a:path h="3118485">
                <a:moveTo>
                  <a:pt x="0" y="0"/>
                </a:moveTo>
                <a:lnTo>
                  <a:pt x="0" y="3118009"/>
                </a:lnTo>
              </a:path>
            </a:pathLst>
          </a:custGeom>
          <a:ln w="41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E5737CE7-CEA9-FB2F-7DEE-AD67CF9E7ED4}"/>
              </a:ext>
            </a:extLst>
          </p:cNvPr>
          <p:cNvSpPr txBox="1">
            <a:spLocks/>
          </p:cNvSpPr>
          <p:nvPr/>
        </p:nvSpPr>
        <p:spPr>
          <a:xfrm>
            <a:off x="8343994" y="3289548"/>
            <a:ext cx="5899053" cy="15356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Patrones de uso NoSQL</a:t>
            </a:r>
            <a:endParaRPr lang="es-CO" sz="495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90849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860F4-D873-2AE0-1574-F35A75213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2AD246B9-5BC3-3444-0250-DC302E11F6A8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28672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Llave – Valor &gt;&gt; </a:t>
            </a:r>
            <a:r>
              <a:rPr lang="es-CO" sz="4950" b="1" spc="-10" dirty="0" err="1">
                <a:latin typeface="Arial"/>
                <a:cs typeface="Arial"/>
              </a:rPr>
              <a:t>Caching</a:t>
            </a:r>
            <a:endParaRPr lang="es-CO" sz="4950" dirty="0">
              <a:latin typeface="Arial"/>
              <a:cs typeface="Arial"/>
            </a:endParaRPr>
          </a:p>
        </p:txBody>
      </p:sp>
      <p:pic>
        <p:nvPicPr>
          <p:cNvPr id="13314" name="Picture 2" descr="Data &amp; Redis - Overview">
            <a:extLst>
              <a:ext uri="{FF2B5EF4-FFF2-40B4-BE49-F238E27FC236}">
                <a16:creationId xmlns:a16="http://schemas.microsoft.com/office/drawing/2014/main" id="{3E0264E4-74B2-FFC2-BA23-7FDE457C3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5450" y="4206875"/>
            <a:ext cx="14173200" cy="5624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7790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377A0-586E-E30E-CFF8-174B8C9C2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FFF468E7-D918-DC2F-24FC-5A76191C957C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28672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Llave – Valor &gt;&gt; Gestión de sesiones</a:t>
            </a:r>
            <a:endParaRPr lang="es-CO" sz="4950" dirty="0">
              <a:latin typeface="Arial"/>
              <a:cs typeface="Arial"/>
            </a:endParaRP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ADA6D78D-316C-B675-35BB-0E7DBB97E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850" y="4054475"/>
            <a:ext cx="6248400" cy="6499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1618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51C88-B976-9980-1749-6B5E27148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8D01A0CC-0C45-A3F3-809A-17ACECFBC665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46198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Llave – Valor &gt;&gt; Sistema de recomendación</a:t>
            </a:r>
            <a:endParaRPr lang="es-CO" sz="4950" dirty="0">
              <a:latin typeface="Arial"/>
              <a:cs typeface="Arial"/>
            </a:endParaRP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18EF5BB5-6ED5-026D-491F-AFD6D86C3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0800" y="3658550"/>
            <a:ext cx="12382500" cy="695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2883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B21B7-A2EC-5A9E-A00B-716C3AA30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A7875963-63BB-00FF-802C-276E59FAD144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46198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Grafos &gt;&gt; Sistemas de recomendación</a:t>
            </a:r>
            <a:endParaRPr lang="es-CO" sz="4950" dirty="0">
              <a:latin typeface="Arial"/>
              <a:cs typeface="Arial"/>
            </a:endParaRPr>
          </a:p>
        </p:txBody>
      </p:sp>
      <p:pic>
        <p:nvPicPr>
          <p:cNvPr id="19460" name="Picture 4" descr="Neo4j on AWS - Graph Database &amp; Analytics">
            <a:extLst>
              <a:ext uri="{FF2B5EF4-FFF2-40B4-BE49-F238E27FC236}">
                <a16:creationId xmlns:a16="http://schemas.microsoft.com/office/drawing/2014/main" id="{0785FF10-8465-DFAD-7173-7CFC78797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650" y="3959701"/>
            <a:ext cx="10210800" cy="603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9879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221CB-B0E4-2D9F-6031-0E735EFC2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2861520B-06DF-F0BC-1A64-40D4F60BCAB9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46198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Grafos &gt;&gt; Detección de fraudes</a:t>
            </a:r>
            <a:endParaRPr lang="es-CO" sz="4950" dirty="0">
              <a:latin typeface="Arial"/>
              <a:cs typeface="Arial"/>
            </a:endParaRPr>
          </a:p>
        </p:txBody>
      </p:sp>
      <p:pic>
        <p:nvPicPr>
          <p:cNvPr id="21506" name="Picture 2" descr="Fraud ring detection using Neo4j and graphs - Fraud ring detection using  Neo4j and graphs">
            <a:extLst>
              <a:ext uri="{FF2B5EF4-FFF2-40B4-BE49-F238E27FC236}">
                <a16:creationId xmlns:a16="http://schemas.microsoft.com/office/drawing/2014/main" id="{1755718A-F300-E7C1-A98E-F0E217F70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451" y="3978275"/>
            <a:ext cx="11125200" cy="6442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51880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CE7D7-3A1F-BA54-72E6-C953B6789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1BE258BA-4646-D8C9-8C23-AE4D64744F7C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46198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Columnar &gt;&gt; Predicciones en tiempo real</a:t>
            </a:r>
            <a:endParaRPr lang="es-CO" sz="4950" dirty="0">
              <a:latin typeface="Arial"/>
              <a:cs typeface="Arial"/>
            </a:endParaRPr>
          </a:p>
        </p:txBody>
      </p:sp>
      <p:pic>
        <p:nvPicPr>
          <p:cNvPr id="23554" name="Picture 2" descr="How PayU uses Amazon Keyspaces (for Apache Cassandra) as a feature store |  AWS Database Blog">
            <a:extLst>
              <a:ext uri="{FF2B5EF4-FFF2-40B4-BE49-F238E27FC236}">
                <a16:creationId xmlns:a16="http://schemas.microsoft.com/office/drawing/2014/main" id="{6E7F7A91-1E0A-19A9-8FA9-BB7CF0BCC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250" y="4054475"/>
            <a:ext cx="5943600" cy="643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4431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D246E-5BAC-5D04-678C-9548EF357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DBFF4F78-78B1-6A72-A6F5-DFF1F9D2CA0E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46198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Columnar &gt;&gt; Servicio OLAP</a:t>
            </a:r>
            <a:endParaRPr lang="es-CO" sz="4950" dirty="0">
              <a:latin typeface="Arial"/>
              <a:cs typeface="Arial"/>
            </a:endParaRPr>
          </a:p>
        </p:txBody>
      </p:sp>
      <p:pic>
        <p:nvPicPr>
          <p:cNvPr id="25602" name="Picture 2" descr="amazon web services - How to understand an OLAP cube in S3 or Cassandra? -  Stack Overflow">
            <a:extLst>
              <a:ext uri="{FF2B5EF4-FFF2-40B4-BE49-F238E27FC236}">
                <a16:creationId xmlns:a16="http://schemas.microsoft.com/office/drawing/2014/main" id="{DB852B2F-68C6-DECF-7300-4470BB524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250" y="3902075"/>
            <a:ext cx="13309600" cy="646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71903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24021-7FA6-E8BC-CCCE-F106FC89C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D2643557-7F9D-459A-7EA1-A3EEB25D0068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82774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Documento &gt;&gt; Productos de datos servidos a sistemas</a:t>
            </a:r>
            <a:endParaRPr lang="es-CO" sz="4950" dirty="0">
              <a:latin typeface="Arial"/>
              <a:cs typeface="Arial"/>
            </a:endParaRPr>
          </a:p>
        </p:txBody>
      </p:sp>
      <p:pic>
        <p:nvPicPr>
          <p:cNvPr id="27650" name="Picture 2">
            <a:extLst>
              <a:ext uri="{FF2B5EF4-FFF2-40B4-BE49-F238E27FC236}">
                <a16:creationId xmlns:a16="http://schemas.microsoft.com/office/drawing/2014/main" id="{74B65931-3371-C802-EDC1-FCC00EB57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357" y="4130675"/>
            <a:ext cx="15219386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9435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FD65E-C5B4-344C-D38A-322870C8A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170951A1-2DA3-D2FC-C252-42A17C813ABE}"/>
              </a:ext>
            </a:extLst>
          </p:cNvPr>
          <p:cNvSpPr txBox="1">
            <a:spLocks/>
          </p:cNvSpPr>
          <p:nvPr/>
        </p:nvSpPr>
        <p:spPr>
          <a:xfrm>
            <a:off x="994846" y="2884620"/>
            <a:ext cx="18277404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s-CO" sz="4950" b="1" spc="-10" dirty="0">
                <a:latin typeface="Arial"/>
                <a:cs typeface="Arial"/>
              </a:rPr>
              <a:t>Documento &gt;&gt; Catalogo de productos</a:t>
            </a:r>
            <a:endParaRPr lang="es-CO" sz="4950" dirty="0">
              <a:latin typeface="Arial"/>
              <a:cs typeface="Arial"/>
            </a:endParaRPr>
          </a:p>
        </p:txBody>
      </p:sp>
      <p:pic>
        <p:nvPicPr>
          <p:cNvPr id="29700" name="Picture 4" descr="Application Modernization with AWS Elastic Beanstalk and MongoDB Atlas | AWS  Partner Network (APN) Blog">
            <a:extLst>
              <a:ext uri="{FF2B5EF4-FFF2-40B4-BE49-F238E27FC236}">
                <a16:creationId xmlns:a16="http://schemas.microsoft.com/office/drawing/2014/main" id="{6AF938D5-D5B8-454A-74C5-A860641F0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5332" y="4206875"/>
            <a:ext cx="10353436" cy="5895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5848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01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6905</TotalTime>
  <Words>137</Words>
  <Application>Microsoft Macintosh PowerPoint</Application>
  <PresentationFormat>Custom</PresentationFormat>
  <Paragraphs>37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OTROS recursos pptx</dc:title>
  <cp:lastModifiedBy>Daniel Felipe Romero Bernal</cp:lastModifiedBy>
  <cp:revision>13</cp:revision>
  <dcterms:created xsi:type="dcterms:W3CDTF">2024-11-07T16:52:39Z</dcterms:created>
  <dcterms:modified xsi:type="dcterms:W3CDTF">2025-11-01T02:26:41Z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2024-11-07T00:00:00Z</vt:filetime>
  </property>
  <property fmtid="{D5CDD505-2E9C-101B-9397-08002B2CF9AE}" pid="3" name="Creator">
    <vt:lpwstr>Adobe Illustrator 29.0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2024-11-07T00:00:00Z</vt:filetime>
  </property>
  <property fmtid="{D5CDD505-2E9C-101B-9397-08002B2CF9AE}" pid="6" name="Producer">
    <vt:lpwstr>Adobe PDF library 17.00</vt:lpwstr>
  </property>
</Properties>
</file>